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9659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D3A15A"/>
                </a:solidFill>
                <a:latin typeface="Calibri"/>
              </a:rPr>
              <a:t>PROYECTO MAESTRO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423160"/>
            <a:ext cx="121916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JUSTICIA ORIENTA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3375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1">
                <a:solidFill>
                  <a:srgbClr val="C8D0DE"/>
                </a:solidFill>
                <a:latin typeface="Calibri"/>
              </a:rPr>
              <a:t>Modelo Integral de Orientacion y Atencion al Ciudadano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4648" y="4160520"/>
            <a:ext cx="1828800" cy="25400"/>
          </a:xfrm>
          <a:prstGeom prst="rect">
            <a:avLst/>
          </a:prstGeom>
          <a:solidFill>
            <a:srgbClr val="D3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443484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Corte Superior de Justicia de Lima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8006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C8D0DE"/>
                </a:solidFill>
                <a:latin typeface="Calibri"/>
              </a:rPr>
              <a:t>Presentado a la Presidencia, Gerencias y Jefaturas de la Corte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A8B2C4"/>
                </a:solidFill>
                <a:latin typeface="Calibri"/>
              </a:rPr>
              <a:t>Version 2.0  |  25 de agosto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445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El problema que resolvemos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A2A2A"/>
                </a:solidFill>
                <a:latin typeface="Calibri"/>
              </a:rPr>
              <a:t>Todos los dias, un ciudadano llega a la Corte y se hace tres preguntas que hoy nadie le responde con claridad: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286000"/>
            <a:ext cx="3520440" cy="265176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3520440" cy="50800"/>
          </a:xfrm>
          <a:prstGeom prst="rect">
            <a:avLst/>
          </a:prstGeom>
          <a:solidFill>
            <a:srgbClr val="9C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4213C"/>
                </a:solidFill>
                <a:latin typeface="Calibri"/>
              </a:rPr>
              <a:t>A donde voy?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472"/>
                </a:solidFill>
                <a:latin typeface="Calibri"/>
              </a:rPr>
              <a:t>170+ dependencias en un edificio sin senalizacion clara ni buscador.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286000"/>
            <a:ext cx="3520440" cy="265176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286000"/>
            <a:ext cx="3520440" cy="50800"/>
          </a:xfrm>
          <a:prstGeom prst="rect">
            <a:avLst/>
          </a:prstGeom>
          <a:solidFill>
            <a:srgbClr val="9C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6060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4213C"/>
                </a:solidFill>
                <a:latin typeface="Calibri"/>
              </a:rPr>
              <a:t>Quien me atiende?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24612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472"/>
                </a:solidFill>
                <a:latin typeface="Calibri"/>
              </a:rPr>
              <a:t>No sabe si es un juzgado, un modulo o una gerencia -- ni el nombre del responsable.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2286000"/>
            <a:ext cx="3520440" cy="265176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2286000"/>
            <a:ext cx="3520440" cy="50800"/>
          </a:xfrm>
          <a:prstGeom prst="rect">
            <a:avLst/>
          </a:prstGeom>
          <a:solidFill>
            <a:srgbClr val="9C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60604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4213C"/>
                </a:solidFill>
                <a:latin typeface="Calibri"/>
              </a:rPr>
              <a:t>Como lo hago?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46120"/>
            <a:ext cx="3063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B6472"/>
                </a:solidFill>
                <a:latin typeface="Calibri"/>
              </a:rPr>
              <a:t>Requisitos y rutas de atencion dispersos en carteles, hojas sueltas y boca a boca.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2120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14213C"/>
                </a:solidFill>
                <a:latin typeface="Calibri"/>
              </a:rPr>
              <a:t>El resultado: derivaciones incorrectas, tiempo perdido, y una experiencia que no refleja la calidad del servicio que la Corte realmente ofrece.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Corte Superior de Justicia de Lima  |  Justicia Orienta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4710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445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La solucion: Justicia Orienta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1">
                <a:solidFill>
                  <a:srgbClr val="A6752C"/>
                </a:solidFill>
                <a:latin typeface="Calibri"/>
              </a:rPr>
              <a:t>"No necesitas conocer la Corte. Justicia Orienta te guia."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2A2A2A"/>
                </a:solidFill>
                <a:latin typeface="Calibri"/>
              </a:rPr>
              <a:t>Un sistema digital, gratuito y ya operativo, que orienta al ciudadano en tres niveles: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697480"/>
            <a:ext cx="3520440" cy="237744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6752C"/>
                </a:solidFill>
                <a:latin typeface="Calibri"/>
              </a:rPr>
              <a:t>Nivel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13C"/>
                </a:solidFill>
                <a:latin typeface="Calibri"/>
              </a:rPr>
              <a:t>Donde?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472"/>
                </a:solidFill>
                <a:latin typeface="Calibri"/>
              </a:rPr>
              <a:t>Sede, piso, anexo.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F7D5C"/>
                </a:solidFill>
                <a:latin typeface="Calibri"/>
              </a:rPr>
              <a:t>Completo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697480"/>
            <a:ext cx="3520440" cy="2377440"/>
          </a:xfrm>
          <a:prstGeom prst="rect">
            <a:avLst/>
          </a:prstGeom>
          <a:solidFill>
            <a:srgbClr val="142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88036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3A15A"/>
                </a:solidFill>
                <a:latin typeface="Calibri"/>
              </a:rPr>
              <a:t>Nivel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20040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Quien?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749039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8D0DE"/>
                </a:solidFill>
                <a:latin typeface="Calibri"/>
              </a:rPr>
              <a:t>Area y titular responsable (nombre real).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66344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3F7D5C"/>
                </a:solidFill>
                <a:latin typeface="Calibri"/>
              </a:rPr>
              <a:t>Completo en sede piloto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697480"/>
            <a:ext cx="3520440" cy="237744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88036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6752C"/>
                </a:solidFill>
                <a:latin typeface="Calibri"/>
              </a:rPr>
              <a:t>Nivel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0040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4213C"/>
                </a:solidFill>
                <a:latin typeface="Calibri"/>
              </a:rPr>
              <a:t>Como?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749039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B6472"/>
                </a:solidFill>
                <a:latin typeface="Calibri"/>
              </a:rPr>
              <a:t>Ruta de atencion y requisitos.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66344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B8860B"/>
                </a:solidFill>
                <a:latin typeface="Calibri"/>
              </a:rPr>
              <a:t>Parcial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349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A2A2A"/>
                </a:solidFill>
                <a:latin typeface="Calibri"/>
              </a:rPr>
              <a:t>Funciona por texto o por voz, tolera errores de tipeo, y funciona en modo accesible completo (alto contraste, texto ampliable, lectura en voz alta).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Corte Superior de Justicia de Lima  |  Justicia Orienta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4710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445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Evidencia: el sistema en uso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D8DEE8"/>
                </a:solidFill>
                <a:latin typeface="Calibri"/>
              </a:rPr>
              <a:t>Capturas reales de la aplicacion en produccion, 20 de agosto de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4290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so1_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81912"/>
            <a:ext cx="3282696" cy="15067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520440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213C"/>
                </a:solidFill>
                <a:latin typeface="Calibri"/>
              </a:rPr>
              <a:t>1. Pantalla de inicio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3429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El ciudadano escribe o dicta su necesidad.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508760"/>
            <a:ext cx="34290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so2_buscand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1" y="1581912"/>
            <a:ext cx="3282696" cy="5770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51959" y="3520440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213C"/>
                </a:solidFill>
                <a:latin typeface="Calibri"/>
              </a:rPr>
              <a:t>2. Busqueda en curso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3886200"/>
            <a:ext cx="3429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Ejemplo real: "Coordinacion de Informatica".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508760"/>
            <a:ext cx="342900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9D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aso3_resultad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1581912"/>
            <a:ext cx="3282696" cy="174713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01000" y="3520440"/>
            <a:ext cx="3429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4213C"/>
                </a:solidFill>
                <a:latin typeface="Calibri"/>
              </a:rPr>
              <a:t>3. Resultado preciso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886200"/>
            <a:ext cx="3429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Piso 13, Anexo 13356-13845-13841.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7091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14213C"/>
                </a:solidFill>
                <a:latin typeface="Calibri"/>
              </a:rPr>
              <a:t>Esto no es una maqueta ni un prototipo: es la aplicacion tal como la usa hoy cualquier persona que visita justiorienta.onrender.com desde su celular en la sede Javier Alzamora Valdez.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Corte Superior de Justicia de Lima  |  Justicia Orienta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54710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445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Lo que ya existe, hoy, en produccion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2606040" cy="155448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2606040" cy="5080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64792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4213C"/>
                </a:solidFill>
                <a:latin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97480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sedes cargadas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9272" y="1600200"/>
            <a:ext cx="2606040" cy="155448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19272" y="1600200"/>
            <a:ext cx="2606040" cy="5080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9272" y="1764792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4213C"/>
                </a:solidFill>
                <a:latin typeface="Calibri"/>
              </a:rPr>
              <a:t>505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697480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dependencias reales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35624" y="1600200"/>
            <a:ext cx="2606040" cy="155448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35624" y="1600200"/>
            <a:ext cx="2606040" cy="5080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35624" y="1764792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4213C"/>
                </a:solidFill>
                <a:latin typeface="Calibri"/>
              </a:rPr>
              <a:t>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2697480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titulares reales identificados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51976" y="1600200"/>
            <a:ext cx="2606040" cy="155448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51976" y="1600200"/>
            <a:ext cx="2606040" cy="5080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1976" y="1764792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14213C"/>
                </a:solidFill>
                <a:latin typeface="Calibri"/>
              </a:rPr>
              <a:t>$0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697480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B6472"/>
                </a:solidFill>
                <a:latin typeface="Calibri"/>
              </a:rPr>
              <a:t>costo de licencias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20440"/>
            <a:ext cx="10881360" cy="2834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>
                <a:solidFill>
                  <a:srgbClr val="2A2A2A"/>
                </a:solidFill>
                <a:latin typeface="Calibri"/>
              </a:rPr>
              <a:t>-  Busqueda por texto y por voz, tolerante a tildes y errores de tipeo.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>
                <a:solidFill>
                  <a:srgbClr val="2A2A2A"/>
                </a:solidFill>
                <a:latin typeface="Calibri"/>
              </a:rPr>
              <a:t>-  Aviso automatico cuando la dependencia buscada esta en otra sede.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>
                <a:solidFill>
                  <a:srgbClr val="2A2A2A"/>
                </a:solidFill>
                <a:latin typeface="Calibri"/>
              </a:rPr>
              <a:t>-  Modo accesible completo: alto contraste, texto ampliable, tema oscuro, lectura en voz alta.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>
                <a:solidFill>
                  <a:srgbClr val="2A2A2A"/>
                </a:solidFill>
                <a:latin typeface="Calibri"/>
              </a:rPr>
              <a:t>-  Panel de administracion con flujo de revision y aprobacion por area, con auditoria completa.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>
                <a:solidFill>
                  <a:srgbClr val="2A2A2A"/>
                </a:solidFill>
                <a:latin typeface="Calibri"/>
              </a:rPr>
              <a:t>-  Dashboard de metricas en vivo, codigos QR por sede/dependencia, directorio descargable en PDF.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>
                <a:solidFill>
                  <a:srgbClr val="2A2A2A"/>
                </a:solidFill>
                <a:latin typeface="Calibri"/>
              </a:rPr>
              <a:t>-  Base de datos persistente (PostgreSQL) -- sobrevive reinicios y redeploys.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Corte Superior de Justicia de Lima  |  Justicia Orienta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4710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445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Arquitectura del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2834640" cy="932688"/>
          </a:xfrm>
          <a:prstGeom prst="rect">
            <a:avLst/>
          </a:prstGeom>
          <a:solidFill>
            <a:srgbClr val="142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24688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Capa de Experiencia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600200"/>
            <a:ext cx="7955279" cy="932688"/>
          </a:xfrm>
          <a:prstGeom prst="rect">
            <a:avLst/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758952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A2A2A"/>
                </a:solidFill>
                <a:latin typeface="Calibri"/>
              </a:rPr>
              <a:t>Web (hoy) - App movil, kiosco fisico, tablet de orientador (futuro)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51760"/>
            <a:ext cx="2834640" cy="932688"/>
          </a:xfrm>
          <a:prstGeom prst="rect">
            <a:avLst/>
          </a:prstGeom>
          <a:solidFill>
            <a:srgbClr val="142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24688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Capa de Servicios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651760"/>
            <a:ext cx="7955279" cy="932688"/>
          </a:xfrm>
          <a:prstGeom prst="rect">
            <a:avLst/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651760"/>
            <a:ext cx="758952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A2A2A"/>
                </a:solidFill>
                <a:latin typeface="Calibri"/>
              </a:rPr>
              <a:t>Busqueda inteligente texto/voz - Orientacion en 3 niveles - Accesibilidad completa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03320"/>
            <a:ext cx="2834640" cy="932688"/>
          </a:xfrm>
          <a:prstGeom prst="rect">
            <a:avLst/>
          </a:prstGeom>
          <a:solidFill>
            <a:srgbClr val="142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03320"/>
            <a:ext cx="24688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Capa de Datos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3703320"/>
            <a:ext cx="7955279" cy="932688"/>
          </a:xfrm>
          <a:prstGeom prst="rect">
            <a:avLst/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703320"/>
            <a:ext cx="758952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A2A2A"/>
                </a:solidFill>
                <a:latin typeface="Calibri"/>
              </a:rPr>
              <a:t>PostgreSQL persistente (Neon): sedes, dependencias, titulares, auditoria, consultas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754880"/>
            <a:ext cx="2834640" cy="932688"/>
          </a:xfrm>
          <a:prstGeom prst="rect">
            <a:avLst/>
          </a:prstGeom>
          <a:solidFill>
            <a:srgbClr val="142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754880"/>
            <a:ext cx="24688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Capa de Gobernanza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4754880"/>
            <a:ext cx="7955279" cy="932688"/>
          </a:xfrm>
          <a:prstGeom prst="rect">
            <a:avLst/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754880"/>
            <a:ext cx="758952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A2A2A"/>
                </a:solidFill>
                <a:latin typeface="Calibri"/>
              </a:rPr>
              <a:t>Gestion de contenido por area - Flujo de revision y aprobacion - Metricas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F7D5C"/>
                </a:solidFill>
                <a:latin typeface="Calibri"/>
              </a:rPr>
              <a:t>Costo de infraestructura hoy: $0 -- FastAPI + PostgreSQL + hosting en capas gratuitas.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Corte Superior de Justicia de Lima  |  Justicia Orienta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4710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445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Quien nutre 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D8DEE8"/>
                </a:solidFill>
                <a:latin typeface="Calibri"/>
              </a:rPr>
              <a:t>17 areas de la Corte -- responde directamente quien alimenta cada dato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2014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543800"/>
              </a:tblGrid>
              <a:tr h="114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Rol</a:t>
                      </a:r>
                    </a:p>
                  </a:txBody>
                  <a:tcPr marT="38100" marB="38100" marL="76200" marR="50800" anchor="ctr">
                    <a:solidFill>
                      <a:srgbClr val="142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 cargo de</a:t>
                      </a:r>
                    </a:p>
                  </a:txBody>
                  <a:tcPr marT="38100" marB="38100" marL="76200" marR="50800" anchor="ctr">
                    <a:solidFill>
                      <a:srgbClr val="14213C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  <a:latin typeface="Calibri"/>
                        </a:rPr>
                        <a:t>Comite Directivo</a:t>
                      </a:r>
                    </a:p>
                  </a:txBody>
                  <a:tcPr marT="38100" marB="381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  <a:latin typeface="Calibri"/>
                        </a:rPr>
                        <a:t>Gerencia de Administracion, ODANC, Presidencia de la Corte</a:t>
                      </a:r>
                    </a:p>
                  </a:txBody>
                  <a:tcPr marT="38100" marB="38100" marL="76200" marR="50800" anchor="ctr">
                    <a:solidFill>
                      <a:srgbClr val="FFFFFF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  <a:latin typeface="Calibri"/>
                        </a:rPr>
                        <a:t>Administrador del Sistema</a:t>
                      </a:r>
                    </a:p>
                  </a:txBody>
                  <a:tcPr marT="38100" marB="38100" marL="76200" marR="50800" anchor="ctr">
                    <a:solidFill>
                      <a:srgbClr val="EEF0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  <a:latin typeface="Calibri"/>
                        </a:rPr>
                        <a:t>Coordinacion de Informatica</a:t>
                      </a:r>
                    </a:p>
                  </a:txBody>
                  <a:tcPr marT="38100" marB="38100" marL="76200" marR="50800" anchor="ctr">
                    <a:solidFill>
                      <a:srgbClr val="EEF0EA"/>
                    </a:solidFill>
                  </a:tcPr>
                </a:tc>
              </a:tr>
              <a:tr h="114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  <a:latin typeface="Calibri"/>
                        </a:rPr>
                        <a:t>Responsables de Contenido</a:t>
                      </a:r>
                    </a:p>
                  </a:txBody>
                  <a:tcPr marT="38100" marB="381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A2A2A"/>
                          </a:solidFill>
                          <a:latin typeface="Calibri"/>
                        </a:rPr>
                        <a:t>Un designado por cada una de las 17 areas</a:t>
                      </a:r>
                    </a:p>
                  </a:txBody>
                  <a:tcPr marT="38100" marB="38100" marL="76200" marR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3794760"/>
            <a:ext cx="3474720" cy="210312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794760"/>
            <a:ext cx="3474720" cy="50800"/>
          </a:xfrm>
          <a:prstGeom prst="rect">
            <a:avLst/>
          </a:prstGeom>
          <a:solidFill>
            <a:srgbClr val="3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977639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4213C"/>
                </a:solidFill>
                <a:latin typeface="Calibri"/>
              </a:rPr>
              <a:t>1 de 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0916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6472"/>
                </a:solidFill>
                <a:latin typeface="Calibri"/>
              </a:rPr>
              <a:t>areas con responsable de contenido activo hoy (Coordinacion de Informatica)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3794760"/>
            <a:ext cx="7498079" cy="210312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3794760"/>
            <a:ext cx="7498079" cy="5080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977639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C"/>
                </a:solidFill>
                <a:latin typeface="Calibri"/>
              </a:rPr>
              <a:t>Lo que falta no es tecnologia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434840"/>
            <a:ext cx="7040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A2A2A"/>
                </a:solidFill>
                <a:latin typeface="Calibri"/>
              </a:rPr>
              <a:t>Las otras 16 areas ya tienen su ubicacion cargada automaticamente desde el directorio oficial. El sistema esta listo para recibir su informacion completa; falta la decision institucional de asignar un responsable en cada una -- exactamente el mismo proceso ya probado con los 73 titulares reales.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Corte Superior de Justicia de Lima  |  Justicia Orienta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4710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445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Hoja de ruta por fases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D8DEE8"/>
                </a:solidFill>
                <a:latin typeface="Calibri"/>
              </a:rPr>
              <a:t>Cronograma, responsable y prioridad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1554480" cy="932688"/>
          </a:xfrm>
          <a:prstGeom prst="rect">
            <a:avLst/>
          </a:prstGeom>
          <a:solidFill>
            <a:srgbClr val="3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554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FASE 0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600200"/>
            <a:ext cx="9555480" cy="932688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69164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C"/>
                </a:solidFill>
                <a:latin typeface="Calibri"/>
              </a:rPr>
              <a:t>Fundacion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1031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472"/>
                </a:solidFill>
                <a:latin typeface="Calibri"/>
              </a:rPr>
              <a:t>Agosto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600200"/>
            <a:ext cx="283464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3F7D5C"/>
                </a:solidFill>
                <a:latin typeface="Calibri"/>
              </a:rPr>
              <a:t>Completada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51760"/>
            <a:ext cx="1554480" cy="932688"/>
          </a:xfrm>
          <a:prstGeom prst="rect">
            <a:avLst/>
          </a:prstGeom>
          <a:solidFill>
            <a:srgbClr val="9C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651760"/>
            <a:ext cx="1554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FASE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2651760"/>
            <a:ext cx="9555480" cy="932688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74320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C"/>
                </a:solidFill>
                <a:latin typeface="Calibri"/>
              </a:rPr>
              <a:t>Cierre de concurso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154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472"/>
                </a:solidFill>
                <a:latin typeface="Calibri"/>
              </a:rPr>
              <a:t>25-31 ago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651760"/>
            <a:ext cx="283464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9C3B3B"/>
                </a:solidFill>
                <a:latin typeface="Calibri"/>
              </a:rPr>
              <a:t>Critica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703320"/>
            <a:ext cx="1554480" cy="932688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03320"/>
            <a:ext cx="1554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FASE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3703320"/>
            <a:ext cx="9555480" cy="932688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379476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C"/>
                </a:solidFill>
                <a:latin typeface="Calibri"/>
              </a:rPr>
              <a:t>Consolidacion institucional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206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472"/>
                </a:solidFill>
                <a:latin typeface="Calibri"/>
              </a:rPr>
              <a:t>Set - Nov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703320"/>
            <a:ext cx="283464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A6752C"/>
                </a:solidFill>
                <a:latin typeface="Calibri"/>
              </a:rPr>
              <a:t>Critica / Alta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754880"/>
            <a:ext cx="1554480" cy="93268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754880"/>
            <a:ext cx="155448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FASE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8840" y="4754880"/>
            <a:ext cx="9555480" cy="932688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484632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213C"/>
                </a:solidFill>
                <a:latin typeface="Calibri"/>
              </a:rPr>
              <a:t>Expansion y madurez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5257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472"/>
                </a:solidFill>
                <a:latin typeface="Calibri"/>
              </a:rPr>
              <a:t>Dic 2026 - Ago 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754880"/>
            <a:ext cx="2834640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B8860B"/>
                </a:solidFill>
                <a:latin typeface="Calibri"/>
              </a:rPr>
              <a:t>Media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8064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B6472"/>
                </a:solidFill>
                <a:latin typeface="Calibri"/>
              </a:rPr>
              <a:t>Detalle completo de actividades por responsable: ver Plan Maestro (Word / PDF), seccion 7.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Corte Superior de Justicia de Lima  |  Justicia Orienta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4710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445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 buscador a acompanante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D8DEE8"/>
                </a:solidFill>
                <a:latin typeface="Calibri"/>
              </a:rPr>
              <a:t>Vision estrategica -- lo que hace a este modelo replicable en otras cortes (Fase 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014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700"/>
                <a:gridCol w="5600700"/>
              </a:tblGrid>
              <a:tr h="2286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Hoy</a:t>
                      </a:r>
                    </a:p>
                  </a:txBody>
                  <a:tcPr marT="38100" marB="38100" marL="76200" marR="50800" anchor="ctr">
                    <a:solidFill>
                      <a:srgbClr val="1421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Propuesto (Fase 4)</a:t>
                      </a:r>
                    </a:p>
                  </a:txBody>
                  <a:tcPr marT="38100" marB="38100" marL="76200" marR="50800" anchor="ctr">
                    <a:solidFill>
                      <a:srgbClr val="14213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2A2A"/>
                          </a:solidFill>
                          <a:latin typeface="Calibri"/>
                        </a:rPr>
                        <a:t>Busca -&gt; encuentra</a:t>
                      </a:r>
                    </a:p>
                  </a:txBody>
                  <a:tcPr marT="38100" marB="38100" marL="76200" marR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2A2A"/>
                          </a:solidFill>
                          <a:latin typeface="Calibri"/>
                        </a:rPr>
                        <a:t>Necesita algo -&gt; se le acompana hasta resolverlo</a:t>
                      </a:r>
                    </a:p>
                  </a:txBody>
                  <a:tcPr marT="38100" marB="38100" marL="76200" marR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22402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C"/>
                </a:solidFill>
                <a:latin typeface="Calibri"/>
              </a:rPr>
              <a:t>La Ruta de Atencion: 5 preguntas, no una busqueda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97480"/>
            <a:ext cx="2103120" cy="160020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97480"/>
            <a:ext cx="2103120" cy="5080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A6752C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4213C"/>
                </a:solidFill>
                <a:latin typeface="Calibri"/>
              </a:rPr>
              <a:t>Que necesita?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3192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Servicio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1488" y="2697480"/>
            <a:ext cx="2103120" cy="160020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61488" y="2697480"/>
            <a:ext cx="2103120" cy="5080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1488" y="28346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A6752C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3200400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4213C"/>
                </a:solidFill>
                <a:latin typeface="Calibri"/>
              </a:rPr>
              <a:t>Quien lo atiende?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393192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Dependencia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0056" y="2697480"/>
            <a:ext cx="2103120" cy="160020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0056" y="2697480"/>
            <a:ext cx="2103120" cy="5080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0056" y="28346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A6752C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496" y="3200400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4213C"/>
                </a:solidFill>
                <a:latin typeface="Calibri"/>
              </a:rPr>
              <a:t>Donde?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1496" y="393192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Sede / piso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78624" y="2697480"/>
            <a:ext cx="2103120" cy="160020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78624" y="2697480"/>
            <a:ext cx="2103120" cy="5080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8624" y="28346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A6752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4" y="3200400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4213C"/>
                </a:solidFill>
                <a:latin typeface="Calibri"/>
              </a:rPr>
              <a:t>Como llegar?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0064" y="393192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Mapa + ruta interna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37192" y="2697480"/>
            <a:ext cx="2103120" cy="160020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37192" y="2697480"/>
            <a:ext cx="2103120" cy="5080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37192" y="283464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A6752C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3200400"/>
            <a:ext cx="1920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4213C"/>
                </a:solidFill>
                <a:latin typeface="Calibri"/>
              </a:rPr>
              <a:t>Necesita accesibilidad?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28632" y="3931920"/>
            <a:ext cx="1920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6472"/>
                </a:solidFill>
                <a:latin typeface="Calibri"/>
              </a:rPr>
              <a:t>Ruta accesible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617720"/>
            <a:ext cx="10881360" cy="1920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>
                <a:solidFill>
                  <a:srgbClr val="2A2A2A"/>
                </a:solidFill>
                <a:latin typeface="Calibri"/>
              </a:rPr>
              <a:t>-  Ficha de Sede completa: mapa por piso, fotografias de referencia, boton "Estoy aqui".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>
                <a:solidFill>
                  <a:srgbClr val="2A2A2A"/>
                </a:solidFill>
                <a:latin typeface="Calibri"/>
              </a:rPr>
              <a:t>-  Motor de descubrimiento cerrado: de contar busquedas sin resultado a asignarlas a un area y volver a medir.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>
                <a:solidFill>
                  <a:srgbClr val="2A2A2A"/>
                </a:solidFill>
                <a:latin typeface="Calibri"/>
              </a:rPr>
              <a:t>-  Asistente de IA acotado: entiende la pregunta, pero solo responde con contenido ya validado por la Corte -- nunca inventa.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>
                <a:solidFill>
                  <a:srgbClr val="2A2A2A"/>
                </a:solidFill>
                <a:latin typeface="Calibri"/>
              </a:rPr>
              <a:t>-  Trazabilidad de la orientacion y politica formal de proteccion de datos, propias de una institucion judicial.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Corte Superior de Justicia de Lima  |  Justicia Orienta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54710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445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Fase 4: Innovacion y Replicabilidad Nacional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D8DEE8"/>
                </a:solidFill>
                <a:latin typeface="Calibri"/>
              </a:rPr>
              <a:t>2027 - 2028 -- ninguno de estos elementos existe todavia en 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3931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2A2A"/>
                </a:solidFill>
                <a:latin typeface="Calibri"/>
              </a:rPr>
              <a:t>-  Disenar la Ruta de Atencion y conectar el modelo de Servicio ya existente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2A2A"/>
                </a:solidFill>
                <a:latin typeface="Calibri"/>
              </a:rPr>
              <a:t>-  Construir la Ficha de Sede completa (mapa, fotos, boton "Estoy aqui")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2A2A"/>
                </a:solidFill>
                <a:latin typeface="Calibri"/>
              </a:rPr>
              <a:t>-  Convertir "No se que necesito" en un flujo conversacional progresivo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2A2A"/>
                </a:solidFill>
                <a:latin typeface="Calibri"/>
              </a:rPr>
              <a:t>-  Asistente de IA institucional para tramites -- entrenado y acotado al catalogo validado, nunca respuestas inventadas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2A2A"/>
                </a:solidFill>
                <a:latin typeface="Calibri"/>
              </a:rPr>
              <a:t>-  Agregar boton "Necesito ayuda" con salida a orientacion humana (MAU)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2A2A"/>
                </a:solidFill>
                <a:latin typeface="Calibri"/>
              </a:rPr>
              <a:t>-  Cerrar el ciclo del motor de descubrimiento con asignacion a area responsable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2A2A"/>
                </a:solidFill>
                <a:latin typeface="Calibri"/>
              </a:rPr>
              <a:t>-  Definir metodologia formal de "primera orientacion correcta" y derivaciones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2A2A"/>
                </a:solidFill>
                <a:latin typeface="Calibri"/>
              </a:rPr>
              <a:t>-  Ampliar el semaforo con "Validado por" y "Proxima revision programada"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2A2A"/>
                </a:solidFill>
                <a:latin typeface="Calibri"/>
              </a:rPr>
              <a:t>-  Redactar politica formal de proteccion de datos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50">
                <a:solidFill>
                  <a:srgbClr val="2A2A2A"/>
                </a:solidFill>
                <a:latin typeface="Calibri"/>
              </a:rPr>
              <a:t>-  Documentar el modelo como paquete replicable y presentarlo a otras cortes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623560"/>
            <a:ext cx="11201400" cy="77724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623560"/>
            <a:ext cx="11201400" cy="50800"/>
          </a:xfrm>
          <a:prstGeom prst="rect">
            <a:avLst/>
          </a:prstGeom>
          <a:solidFill>
            <a:srgbClr val="3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F7D5C"/>
                </a:solidFill>
                <a:latin typeface="Calibri"/>
              </a:rPr>
              <a:t>Esto convierte a Justicia Orienta de un sistema hecho a medida de una sede en un modelo que cualquier corte superior del pais puede adoptar sin reinventarlo.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Corte Superior de Justicia de Lima  |  Justicia Orienta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4710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445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Semaforo de vigencia de la informacion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85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D8DEE8"/>
                </a:solidFill>
                <a:latin typeface="Calibri"/>
              </a:rPr>
              <a:t>Diseno propuesto -- Fase 2, esfuerzo estimado: 2 a 3 dias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A2A2A"/>
                </a:solidFill>
                <a:latin typeface="Calibri"/>
              </a:rPr>
              <a:t>Un indicador visual que muestra que tan reciente es la informacion de cada dependencia, para saber que revisar primero sin leer fechas una por una.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3520440" cy="219456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514600"/>
            <a:ext cx="457200" cy="457200"/>
          </a:xfrm>
          <a:prstGeom prst="ellipse">
            <a:avLst/>
          </a:prstGeom>
          <a:solidFill>
            <a:srgbClr val="3F7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42032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F7D5C"/>
                </a:solidFill>
                <a:latin typeface="Calibri"/>
              </a:rPr>
              <a:t>Verde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13C"/>
                </a:solidFill>
                <a:latin typeface="Calibri"/>
              </a:rPr>
              <a:t>0 - 90 dias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Informacion revisada recientemente.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286000"/>
            <a:ext cx="3520440" cy="219456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26280" y="2514600"/>
            <a:ext cx="457200" cy="457200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542032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B8860B"/>
                </a:solidFill>
                <a:latin typeface="Calibri"/>
              </a:rPr>
              <a:t>Ambar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154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13C"/>
                </a:solidFill>
                <a:latin typeface="Calibri"/>
              </a:rPr>
              <a:t>91 - 180 dias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56616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Empieza a envejecer -- revisar en el proximo ciclo.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286000"/>
            <a:ext cx="3520440" cy="219456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21040" y="2514600"/>
            <a:ext cx="457200" cy="457200"/>
          </a:xfrm>
          <a:prstGeom prst="ellipse">
            <a:avLst/>
          </a:prstGeom>
          <a:solidFill>
            <a:srgbClr val="9C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2542032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9C3B3B"/>
                </a:solidFill>
                <a:latin typeface="Calibri"/>
              </a:rPr>
              <a:t>Rojo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1546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13C"/>
                </a:solidFill>
                <a:latin typeface="Calibri"/>
              </a:rPr>
              <a:t>Mas de 180 dias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6616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B6472"/>
                </a:solidFill>
                <a:latin typeface="Calibri"/>
              </a:rPr>
              <a:t>Requiere revision prioritaria del area.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F7D5C"/>
                </a:solidFill>
                <a:latin typeface="Calibri"/>
              </a:rPr>
              <a:t>El dato ya existe (actualizado_en, en toda la base de datos desde el primer dia). No requiere nueva infraestructura ni costo adicional -- solo una funcion de calculo y un indicador visual.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Corte Superior de Justicia de Lima  |  Justicia Orienta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4710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445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Metricas de exito y riesgos gestionados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C"/>
                </a:solidFill>
                <a:latin typeface="Calibri"/>
              </a:rPr>
              <a:t>Ya medido hoy: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394960" cy="3291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2A2A2A"/>
                </a:solidFill>
                <a:latin typeface="Calibri"/>
              </a:rPr>
              <a:t>-  Total de consultas, % resueltas, % sin resultado.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2A2A2A"/>
                </a:solidFill>
                <a:latin typeface="Calibri"/>
              </a:rPr>
              <a:t>-  Top busquedas sin resultado (necesidades no cubiertas).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2A2A2A"/>
                </a:solidFill>
                <a:latin typeface="Calibri"/>
              </a:rPr>
              <a:t>-  % de uso por voz y modo accesible.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2A2A2A"/>
                </a:solidFill>
                <a:latin typeface="Calibri"/>
              </a:rPr>
              <a:t>-  Consultas por sede, area y tipo de dependencia.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>
                <a:solidFill>
                  <a:srgbClr val="2A2A2A"/>
                </a:solidFill>
                <a:latin typeface="Calibri"/>
              </a:rPr>
              <a:t>-  Completitud de datos y pendientes por area.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4173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13C"/>
                </a:solidFill>
                <a:latin typeface="Calibri"/>
              </a:rPr>
              <a:t>Principal riesgo y mitigacion: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828800"/>
            <a:ext cx="5394960" cy="141732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C3B3B"/>
                </a:solidFill>
                <a:latin typeface="Calibri"/>
              </a:rPr>
              <a:t>Riesgo: dependencia de un solo responsable tecnico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377440"/>
            <a:ext cx="5029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A2A2A"/>
                </a:solidFill>
                <a:latin typeface="Calibri"/>
              </a:rPr>
              <a:t>Mitigacion: documentar el sistema (manual tecnico ya redactado) y capacitar a un segundo responsable en Coordinacion de Informatica.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3429000"/>
            <a:ext cx="5394960" cy="141732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5661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8860B"/>
                </a:solidFill>
                <a:latin typeface="Calibri"/>
              </a:rPr>
              <a:t>Riesgo: areas no asignan responsable de contenido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977639"/>
            <a:ext cx="5029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A2A2A"/>
                </a:solidFill>
                <a:latin typeface="Calibri"/>
              </a:rPr>
              <a:t>Mitigacion: el Comite Directivo formaliza la asignacion por resolucion, no por buena voluntad.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4864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B6472"/>
                </a:solidFill>
                <a:latin typeface="Calibri"/>
              </a:rPr>
              <a:t>Meta declarada: primera orientacion correcta &gt;80%, satisfaccion &gt;4.5/5, busquedas sin resultado &lt;20%.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Corte Superior de Justicia de Lima  |  Justicia Orienta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4710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445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Lo que pedimos hoy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1005840" cy="137160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005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1828800"/>
            <a:ext cx="10058400" cy="137160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202996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213C"/>
                </a:solidFill>
                <a:latin typeface="Calibri"/>
              </a:rPr>
              <a:t>Aprobar la asignacion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514600"/>
            <a:ext cx="9509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A2A2A"/>
                </a:solidFill>
                <a:latin typeface="Calibri"/>
              </a:rPr>
              <a:t>de un responsable de contenido en cada una de las 16 areas restantes.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429000"/>
            <a:ext cx="1005840" cy="1371600"/>
          </a:xfrm>
          <a:prstGeom prst="rect">
            <a:avLst/>
          </a:prstGeom>
          <a:solidFill>
            <a:srgbClr val="A67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1005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3429000"/>
            <a:ext cx="10058400" cy="1371600"/>
          </a:xfrm>
          <a:prstGeom prst="rect">
            <a:avLst/>
          </a:prstGeom>
          <a:solidFill>
            <a:srgbClr val="F4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3630168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4213C"/>
                </a:solidFill>
                <a:latin typeface="Calibri"/>
              </a:rPr>
              <a:t>Autorizar el inicio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114800"/>
            <a:ext cx="95097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A2A2A"/>
                </a:solidFill>
                <a:latin typeface="Calibri"/>
              </a:rPr>
              <a:t>de la Fase 2 (setiembre 2026) con el cronograma ya definido en este plan.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3035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B6472"/>
                </a:solidFill>
                <a:latin typeface="Calibri"/>
              </a:rPr>
              <a:t>El costo es $0 en licencias. El unico costo real es el tiempo del personal que ya trabaja en la Corte, dedicado a registrar su propia informacion.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Corte Superior de Justicia de Lima  |  Justicia Orienta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4710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47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6015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i="1">
                <a:solidFill>
                  <a:srgbClr val="FFFFFF"/>
                </a:solidFill>
                <a:latin typeface="Calibri"/>
              </a:rPr>
              <a:t>"La justicia no debe ser un laberinto.
Debe ser un camino claro, accesible y comprensible para todos."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4297680"/>
            <a:ext cx="1828800" cy="25400"/>
          </a:xfrm>
          <a:prstGeom prst="rect">
            <a:avLst/>
          </a:prstGeom>
          <a:solidFill>
            <a:srgbClr val="D3A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572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D3A15A"/>
                </a:solidFill>
                <a:latin typeface="Calibri"/>
              </a:rPr>
              <a:t>Justicia Orienta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93776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C8D0DE"/>
                </a:solidFill>
                <a:latin typeface="Calibri"/>
              </a:rPr>
              <a:t>Coordinacion de Informatica -- Corte Superior de Justicia de Lima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