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1051560"/>
            <a:ext cx="777240" cy="777240"/>
          </a:xfrm>
          <a:prstGeom prst="ellipse">
            <a:avLst/>
          </a:prstGeom>
          <a:noFill/>
          <a:ln w="13970">
            <a:solidFill>
              <a:srgbClr val="C9C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735116" y="1191463"/>
            <a:ext cx="279806" cy="497433"/>
          </a:xfrm>
          <a:prstGeom prst="diamond">
            <a:avLst/>
          </a:prstGeom>
          <a:solidFill>
            <a:srgbClr val="2F6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09160" y="214884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B98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214884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3.er PUESTO · CONCURSO DE INNOVACIÓN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80360"/>
            <a:ext cx="944575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Georgia"/>
              </a:rPr>
              <a:t>Justicia Orienta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886200"/>
            <a:ext cx="76169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1">
                <a:solidFill>
                  <a:srgbClr val="C9CEDA"/>
                </a:solidFill>
                <a:latin typeface="Calibri"/>
              </a:rPr>
              <a:t>“La justicia no debe ser un laberinto. Debe ser un camino claro,
accesible y comprensible para todos.”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709160"/>
            <a:ext cx="9445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B9852C"/>
                </a:solidFill>
                <a:latin typeface="Calibri"/>
              </a:rPr>
              <a:t>Corte Superior de Justicia de Lima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4648" y="5532120"/>
            <a:ext cx="1828800" cy="12700"/>
          </a:xfrm>
          <a:prstGeom prst="rect">
            <a:avLst/>
          </a:prstGeom>
          <a:solidFill>
            <a:srgbClr val="3A49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5669280"/>
            <a:ext cx="9445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i="0">
                <a:solidFill>
                  <a:srgbClr val="9AA3B6"/>
                </a:solidFill>
                <a:latin typeface="Calibri"/>
              </a:rPr>
              <a:t>Presentado por [Tu nombre] · Coordinación de Informática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365760" cy="365760"/>
          </a:xfrm>
          <a:prstGeom prst="ellipse">
            <a:avLst/>
          </a:prstGeom>
          <a:noFill/>
          <a:ln w="1397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619963" y="431596"/>
            <a:ext cx="131673" cy="234086"/>
          </a:xfrm>
          <a:prstGeom prst="diamond">
            <a:avLst/>
          </a:prstGeom>
          <a:solidFill>
            <a:srgbClr val="2F6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F5A40"/>
                </a:solidFill>
                <a:latin typeface="Calibri"/>
              </a:rPr>
              <a:t>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65960"/>
            <a:ext cx="944575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 i="0">
                <a:solidFill>
                  <a:srgbClr val="14213C"/>
                </a:solidFill>
                <a:latin typeface="Georgia"/>
              </a:rPr>
              <a:t>Nadie llega a la Corte sabiendo a dónde 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8503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4A5568"/>
                </a:solidFill>
                <a:latin typeface="Calibri"/>
              </a:rPr>
              <a:t>Cientos de dependencias, jurisdiccionales y administrativas, repartidas en 26 sedes. El ciudadano no sabe qué juzgado ve su caso, en qué piso queda, ni si tiene que ir en persona. El resultado: colas en el módulo equivocado, y personal real respondiendo la misma pregunta, todos los días.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4A5568"/>
                </a:solidFill>
                <a:latin typeface="Calibri"/>
              </a:rPr>
              <a:t>Justicia Orienta · Corte Superior de Justicia de Lima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4A5568"/>
                </a:solidFill>
                <a:latin typeface="Calibri"/>
              </a:rP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365760" cy="365760"/>
          </a:xfrm>
          <a:prstGeom prst="ellipse">
            <a:avLst/>
          </a:prstGeom>
          <a:noFill/>
          <a:ln w="1397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619963" y="431596"/>
            <a:ext cx="131673" cy="234086"/>
          </a:xfrm>
          <a:prstGeom prst="diamond">
            <a:avLst/>
          </a:prstGeom>
          <a:solidFill>
            <a:srgbClr val="2F6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94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F5A40"/>
                </a:solidFill>
                <a:latin typeface="Calibri"/>
              </a:rPr>
              <a:t>LA SOLUCIÓN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 i="0">
                <a:solidFill>
                  <a:srgbClr val="14213C"/>
                </a:solidFill>
                <a:latin typeface="Georgia"/>
              </a:rPr>
              <a:t>Un orientador digital que responde tres preguntas, en ese orden.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011680"/>
            <a:ext cx="3063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19456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B9852C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743200"/>
            <a:ext cx="251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 i="0">
                <a:solidFill>
                  <a:srgbClr val="14213C"/>
                </a:solidFill>
                <a:latin typeface="Georgia"/>
              </a:rPr>
              <a:t>¿Dónde?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00400"/>
            <a:ext cx="2514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Sede, piso y anexo exactos, para las 505 dependencias ya cargadas.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011680"/>
            <a:ext cx="3063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219456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B9852C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743200"/>
            <a:ext cx="251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 i="0">
                <a:solidFill>
                  <a:srgbClr val="14213C"/>
                </a:solidFill>
                <a:latin typeface="Georgia"/>
              </a:rPr>
              <a:t>¿Quién?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200400"/>
            <a:ext cx="2514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El área o el titular responsable: jueza, vocal, jefatura o coordinación.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011680"/>
            <a:ext cx="3063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19456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B9852C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743200"/>
            <a:ext cx="251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 i="0">
                <a:solidFill>
                  <a:srgbClr val="14213C"/>
                </a:solidFill>
                <a:latin typeface="Georgia"/>
              </a:rPr>
              <a:t>¿Cómo?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00400"/>
            <a:ext cx="2514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Requisitos, horario, y la ruta interna para llegar caminando desde la entrada.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343400"/>
            <a:ext cx="9445752" cy="1051560"/>
          </a:xfrm>
          <a:prstGeom prst="roundRect">
            <a:avLst>
              <a:gd name="adj" fmla="val 15000"/>
            </a:avLst>
          </a:prstGeom>
          <a:solidFill>
            <a:srgbClr val="E4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4480560"/>
            <a:ext cx="8778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 i="0">
                <a:solidFill>
                  <a:srgbClr val="1F5A40"/>
                </a:solidFill>
                <a:latin typeface="Calibri"/>
              </a:rPr>
              <a:t>Un principio gobierna todo lo demás: nunca inventa una respuesta. Solo devuelve lo que cada área ya validó. Es un sistema, no una persona — y eso es una decisión de diseño, no una limitación.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4A5568"/>
                </a:solidFill>
                <a:latin typeface="Calibri"/>
              </a:rPr>
              <a:t>Justicia Orienta · Corte Superior de Justicia de Lima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4A5568"/>
                </a:solidFill>
                <a:latin typeface="Calibri"/>
              </a:rPr>
              <a:t>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365760" cy="365760"/>
          </a:xfrm>
          <a:prstGeom prst="ellipse">
            <a:avLst/>
          </a:prstGeom>
          <a:noFill/>
          <a:ln w="1397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619963" y="431596"/>
            <a:ext cx="131673" cy="234086"/>
          </a:xfrm>
          <a:prstGeom prst="diamond">
            <a:avLst/>
          </a:prstGeom>
          <a:solidFill>
            <a:srgbClr val="2F6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F5A40"/>
                </a:solidFill>
                <a:latin typeface="Calibri"/>
              </a:rPr>
              <a:t>ASÍ SE 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500" b="1" i="0">
                <a:solidFill>
                  <a:srgbClr val="14213C"/>
                </a:solidFill>
                <a:latin typeface="Georgia"/>
              </a:rPr>
              <a:t>Sin cuenta, sin instalar nada, desde cualquier celular.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521208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F6F52"/>
                </a:solidFill>
                <a:latin typeface="Calibri"/>
              </a:rPr>
              <a:t>•  </a:t>
            </a:r>
            <a:r>
              <a:rPr sz="1450">
                <a:solidFill>
                  <a:srgbClr val="4A5568"/>
                </a:solidFill>
                <a:latin typeface="Calibri"/>
              </a:rPr>
              <a:t>Se escribe o se dicta por voz lo que se necesita, en lenguaje cotidiano.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F6F52"/>
                </a:solidFill>
                <a:latin typeface="Calibri"/>
              </a:rPr>
              <a:t>•  </a:t>
            </a:r>
            <a:r>
              <a:rPr sz="1450">
                <a:solidFill>
                  <a:srgbClr val="4A5568"/>
                </a:solidFill>
                <a:latin typeface="Calibri"/>
              </a:rPr>
              <a:t>Tolera errores de tipeo y falta de tildes.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F6F52"/>
                </a:solidFill>
                <a:latin typeface="Calibri"/>
              </a:rPr>
              <a:t>•  </a:t>
            </a:r>
            <a:r>
              <a:rPr sz="1450">
                <a:solidFill>
                  <a:srgbClr val="4A5568"/>
                </a:solidFill>
                <a:latin typeface="Calibri"/>
              </a:rPr>
              <a:t>Un selector opcional de perfil ajusta la experiencia desde el primer segundo.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80160"/>
            <a:ext cx="5394960" cy="348743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394960" cy="292608"/>
          </a:xfrm>
          <a:prstGeom prst="roundRect">
            <a:avLst>
              <a:gd name="adj" fmla="val 4000"/>
            </a:avLst>
          </a:prstGeom>
          <a:solidFill>
            <a:srgbClr val="E3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91656" y="1389888"/>
            <a:ext cx="73152" cy="73152"/>
          </a:xfrm>
          <a:prstGeom prst="ellipse">
            <a:avLst/>
          </a:prstGeom>
          <a:solidFill>
            <a:srgbClr val="D3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389888"/>
            <a:ext cx="73152" cy="73152"/>
          </a:xfrm>
          <a:prstGeom prst="ellipse">
            <a:avLst/>
          </a:prstGeom>
          <a:solidFill>
            <a:srgbClr val="D3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84264" y="1389888"/>
            <a:ext cx="73152" cy="73152"/>
          </a:xfrm>
          <a:prstGeom prst="ellipse">
            <a:avLst/>
          </a:prstGeom>
          <a:solidFill>
            <a:srgbClr val="D3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1316736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7A8494"/>
                </a:solidFill>
                <a:latin typeface="Consolas"/>
              </a:rPr>
              <a:t>justicia-orienta.onrender.com</a:t>
            </a:r>
          </a:p>
        </p:txBody>
      </p:sp>
      <p:pic>
        <p:nvPicPr>
          <p:cNvPr id="14" name="Picture 13" descr="screenshot-1788890101069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600200"/>
            <a:ext cx="5340096" cy="31623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4A5568"/>
                </a:solidFill>
                <a:latin typeface="Calibri"/>
              </a:rPr>
              <a:t>Justicia Orienta · Corte Superior de Justicia de Lima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4A5568"/>
                </a:solidFill>
                <a:latin typeface="Calibri"/>
              </a:rPr>
              <a:t>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365760" cy="365760"/>
          </a:xfrm>
          <a:prstGeom prst="ellipse">
            <a:avLst/>
          </a:prstGeom>
          <a:noFill/>
          <a:ln w="1397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619963" y="431596"/>
            <a:ext cx="131673" cy="234086"/>
          </a:xfrm>
          <a:prstGeom prst="diamond">
            <a:avLst/>
          </a:prstGeom>
          <a:solidFill>
            <a:srgbClr val="2F6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12344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F5A40"/>
                </a:solidFill>
                <a:latin typeface="Calibri"/>
              </a:rPr>
              <a:t>LA BÚSQUEDA, EN 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0020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500" b="1" i="0">
                <a:solidFill>
                  <a:srgbClr val="14213C"/>
                </a:solidFill>
                <a:latin typeface="Georgia"/>
              </a:rPr>
              <a:t>“Recursos humanos”, y ya está: piso, anexo y cómo llegar.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880360"/>
            <a:ext cx="521208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F6F52"/>
                </a:solidFill>
                <a:latin typeface="Calibri"/>
              </a:rPr>
              <a:t>•  </a:t>
            </a:r>
            <a:r>
              <a:rPr sz="1450">
                <a:solidFill>
                  <a:srgbClr val="4A5568"/>
                </a:solidFill>
                <a:latin typeface="Calibri"/>
              </a:rPr>
              <a:t>Cada resultado se puede escuchar en voz alta.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F6F52"/>
                </a:solidFill>
                <a:latin typeface="Calibri"/>
              </a:rPr>
              <a:t>•  </a:t>
            </a:r>
            <a:r>
              <a:rPr sz="1450">
                <a:solidFill>
                  <a:srgbClr val="4A5568"/>
                </a:solidFill>
                <a:latin typeface="Calibri"/>
              </a:rPr>
              <a:t>Un botón traza la ruta interna a pie, piso por piso.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F6F52"/>
                </a:solidFill>
                <a:latin typeface="Calibri"/>
              </a:rPr>
              <a:t>•  </a:t>
            </a:r>
            <a:r>
              <a:rPr sz="1450">
                <a:solidFill>
                  <a:srgbClr val="4A5568"/>
                </a:solidFill>
                <a:latin typeface="Calibri"/>
              </a:rPr>
              <a:t>Enlace directo a cómo llegar y a la ficha completa de la sede.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80160"/>
            <a:ext cx="5394960" cy="348743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5394960" cy="292608"/>
          </a:xfrm>
          <a:prstGeom prst="roundRect">
            <a:avLst>
              <a:gd name="adj" fmla="val 4000"/>
            </a:avLst>
          </a:prstGeom>
          <a:solidFill>
            <a:srgbClr val="E3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8096" y="1389888"/>
            <a:ext cx="73152" cy="73152"/>
          </a:xfrm>
          <a:prstGeom prst="ellipse">
            <a:avLst/>
          </a:prstGeom>
          <a:solidFill>
            <a:srgbClr val="D3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389888"/>
            <a:ext cx="73152" cy="73152"/>
          </a:xfrm>
          <a:prstGeom prst="ellipse">
            <a:avLst/>
          </a:prstGeom>
          <a:solidFill>
            <a:srgbClr val="D3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1389888"/>
            <a:ext cx="73152" cy="73152"/>
          </a:xfrm>
          <a:prstGeom prst="ellipse">
            <a:avLst/>
          </a:prstGeom>
          <a:solidFill>
            <a:srgbClr val="D3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316736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7A8494"/>
                </a:solidFill>
                <a:latin typeface="Consolas"/>
              </a:rPr>
              <a:t>buscar: recursos humanos</a:t>
            </a:r>
          </a:p>
        </p:txBody>
      </p:sp>
      <p:pic>
        <p:nvPicPr>
          <p:cNvPr id="14" name="Picture 13" descr="screenshot-1788890192562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00200"/>
            <a:ext cx="5340096" cy="31623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4A5568"/>
                </a:solidFill>
                <a:latin typeface="Calibri"/>
              </a:rPr>
              <a:t>Justicia Orienta · Corte Superior de Justicia de Lima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4A5568"/>
                </a:solidFill>
                <a:latin typeface="Calibri"/>
              </a:rPr>
              <a:t>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365760" cy="365760"/>
          </a:xfrm>
          <a:prstGeom prst="ellipse">
            <a:avLst/>
          </a:prstGeom>
          <a:noFill/>
          <a:ln w="1397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619963" y="431596"/>
            <a:ext cx="131673" cy="234086"/>
          </a:xfrm>
          <a:prstGeom prst="diamond">
            <a:avLst/>
          </a:prstGeom>
          <a:solidFill>
            <a:srgbClr val="2F6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F5A40"/>
                </a:solidFill>
                <a:latin typeface="Calibri"/>
              </a:rPr>
              <a:t>“ESTOY AQUÍ”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500" b="1" i="0">
                <a:solidFill>
                  <a:srgbClr val="14213C"/>
                </a:solidFill>
                <a:latin typeface="Georgia"/>
              </a:rPr>
              <a:t>La ficha completa de cada sede, piso por piso.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521208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F6F52"/>
                </a:solidFill>
                <a:latin typeface="Calibri"/>
              </a:rPr>
              <a:t>•  </a:t>
            </a:r>
            <a:r>
              <a:rPr sz="1450">
                <a:solidFill>
                  <a:srgbClr val="4A5568"/>
                </a:solidFill>
                <a:latin typeface="Calibri"/>
              </a:rPr>
              <a:t>Dirección, teléfono, accesibilidad y las 178 dependencias de esta sede, agrupadas por piso.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F6F52"/>
                </a:solidFill>
                <a:latin typeface="Calibri"/>
              </a:rPr>
              <a:t>•  </a:t>
            </a:r>
            <a:r>
              <a:rPr sz="1450">
                <a:solidFill>
                  <a:srgbClr val="4A5568"/>
                </a:solidFill>
                <a:latin typeface="Calibri"/>
              </a:rPr>
              <a:t>Mapa interno real del Nivel 1, digitalizado a partir de los planos BIM del edificio.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F6F52"/>
                </a:solidFill>
                <a:latin typeface="Calibri"/>
              </a:rPr>
              <a:t>•  </a:t>
            </a:r>
            <a:r>
              <a:rPr sz="1450">
                <a:solidFill>
                  <a:srgbClr val="4A5568"/>
                </a:solidFill>
                <a:latin typeface="Calibri"/>
              </a:rPr>
              <a:t>Directorio completo descargable en PDF, listo para imprimir en un módulo de atención.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80160"/>
            <a:ext cx="5394960" cy="348743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394960" cy="292608"/>
          </a:xfrm>
          <a:prstGeom prst="roundRect">
            <a:avLst>
              <a:gd name="adj" fmla="val 4000"/>
            </a:avLst>
          </a:prstGeom>
          <a:solidFill>
            <a:srgbClr val="E3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91656" y="1389888"/>
            <a:ext cx="73152" cy="73152"/>
          </a:xfrm>
          <a:prstGeom prst="ellipse">
            <a:avLst/>
          </a:prstGeom>
          <a:solidFill>
            <a:srgbClr val="D3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389888"/>
            <a:ext cx="73152" cy="73152"/>
          </a:xfrm>
          <a:prstGeom prst="ellipse">
            <a:avLst/>
          </a:prstGeom>
          <a:solidFill>
            <a:srgbClr val="D3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84264" y="1389888"/>
            <a:ext cx="73152" cy="73152"/>
          </a:xfrm>
          <a:prstGeom prst="ellipse">
            <a:avLst/>
          </a:prstGeom>
          <a:solidFill>
            <a:srgbClr val="D3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1316736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7A8494"/>
                </a:solidFill>
                <a:latin typeface="Consolas"/>
              </a:rPr>
              <a:t>Sede Javier Alzamora Valdez</a:t>
            </a:r>
          </a:p>
        </p:txBody>
      </p:sp>
      <p:pic>
        <p:nvPicPr>
          <p:cNvPr id="14" name="Picture 13" descr="screenshot-1788890285113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600200"/>
            <a:ext cx="5340096" cy="31623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4A5568"/>
                </a:solidFill>
                <a:latin typeface="Calibri"/>
              </a:rPr>
              <a:t>Justicia Orienta · Corte Superior de Justicia de Lima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4A5568"/>
                </a:solidFill>
                <a:latin typeface="Calibri"/>
              </a:rPr>
              <a:t>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365760" cy="365760"/>
          </a:xfrm>
          <a:prstGeom prst="ellipse">
            <a:avLst/>
          </a:prstGeom>
          <a:noFill/>
          <a:ln w="1397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619963" y="431596"/>
            <a:ext cx="131673" cy="234086"/>
          </a:xfrm>
          <a:prstGeom prst="diamond">
            <a:avLst/>
          </a:prstGeom>
          <a:solidFill>
            <a:srgbClr val="2F6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12344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F5A40"/>
                </a:solidFill>
                <a:latin typeface="Calibri"/>
              </a:rPr>
              <a:t>NACE PARA QUIEN MÁS LO NECESITA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0020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500" b="1" i="0">
                <a:solidFill>
                  <a:srgbClr val="14213C"/>
                </a:solidFill>
                <a:latin typeface="Georgia"/>
              </a:rPr>
              <a:t>Y por eso funciona mejor para todos los demás.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880360"/>
            <a:ext cx="521208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F6F52"/>
                </a:solidFill>
                <a:latin typeface="Calibri"/>
              </a:rPr>
              <a:t>•  </a:t>
            </a:r>
            <a:r>
              <a:rPr sz="1450">
                <a:solidFill>
                  <a:srgbClr val="4A5568"/>
                </a:solidFill>
                <a:latin typeface="Calibri"/>
              </a:rPr>
              <a:t>Modo adulto mayor: texto, botones y tarjetas al tamaño máximo, en un solo toque.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F6F52"/>
                </a:solidFill>
                <a:latin typeface="Calibri"/>
              </a:rPr>
              <a:t>•  </a:t>
            </a:r>
            <a:r>
              <a:rPr sz="1450">
                <a:solidFill>
                  <a:srgbClr val="4A5568"/>
                </a:solidFill>
                <a:latin typeface="Calibri"/>
              </a:rPr>
              <a:t>Alto contraste, tema oscuro y voz más lenta — cada preferencia se recuerda sola.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F6F52"/>
                </a:solidFill>
                <a:latin typeface="Calibri"/>
              </a:rPr>
              <a:t>•  </a:t>
            </a:r>
            <a:r>
              <a:rPr sz="1450">
                <a:solidFill>
                  <a:srgbClr val="4A5568"/>
                </a:solidFill>
                <a:latin typeface="Calibri"/>
              </a:rPr>
              <a:t>El mismo efecto de una rampa: se construye pensando en quien más la necesita, y termina ayudando a cualquiera — el padre con coches de compra, el visitante apurado, cualquier ciudadano.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80160"/>
            <a:ext cx="5394960" cy="348743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5394960" cy="292608"/>
          </a:xfrm>
          <a:prstGeom prst="roundRect">
            <a:avLst>
              <a:gd name="adj" fmla="val 4000"/>
            </a:avLst>
          </a:prstGeom>
          <a:solidFill>
            <a:srgbClr val="E3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8096" y="1389888"/>
            <a:ext cx="73152" cy="73152"/>
          </a:xfrm>
          <a:prstGeom prst="ellipse">
            <a:avLst/>
          </a:prstGeom>
          <a:solidFill>
            <a:srgbClr val="D3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389888"/>
            <a:ext cx="73152" cy="73152"/>
          </a:xfrm>
          <a:prstGeom prst="ellipse">
            <a:avLst/>
          </a:prstGeom>
          <a:solidFill>
            <a:srgbClr val="D3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1389888"/>
            <a:ext cx="73152" cy="73152"/>
          </a:xfrm>
          <a:prstGeom prst="ellipse">
            <a:avLst/>
          </a:prstGeom>
          <a:solidFill>
            <a:srgbClr val="D3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316736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7A8494"/>
                </a:solidFill>
                <a:latin typeface="Consolas"/>
              </a:rPr>
              <a:t>Modo adulto mayor: activo</a:t>
            </a:r>
          </a:p>
        </p:txBody>
      </p:sp>
      <p:pic>
        <p:nvPicPr>
          <p:cNvPr id="14" name="Picture 13" descr="screenshot-1788890371761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00200"/>
            <a:ext cx="5340096" cy="31623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4A5568"/>
                </a:solidFill>
                <a:latin typeface="Calibri"/>
              </a:rPr>
              <a:t>Justicia Orienta · Corte Superior de Justicia de Lima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4A5568"/>
                </a:solidFill>
                <a:latin typeface="Calibri"/>
              </a:rPr>
              <a:t>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365760" cy="365760"/>
          </a:xfrm>
          <a:prstGeom prst="ellipse">
            <a:avLst/>
          </a:prstGeom>
          <a:noFill/>
          <a:ln w="1397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619963" y="431596"/>
            <a:ext cx="131673" cy="234086"/>
          </a:xfrm>
          <a:prstGeom prst="diamond">
            <a:avLst/>
          </a:prstGeom>
          <a:solidFill>
            <a:srgbClr val="2F6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F5A40"/>
                </a:solidFill>
                <a:latin typeface="Calibri"/>
              </a:rPr>
              <a:t>NO ES UNA MAQUETA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 i="0">
                <a:solidFill>
                  <a:srgbClr val="14213C"/>
                </a:solidFill>
                <a:latin typeface="Georgia"/>
              </a:rPr>
              <a:t>Ya está en producción, con datos reales.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2057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1" i="0">
                <a:solidFill>
                  <a:srgbClr val="1F5A40"/>
                </a:solidFill>
                <a:latin typeface="Georgia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</a:rPr>
              <a:t>sedes cargadas en todo Lima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916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810512"/>
            <a:ext cx="2057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1" i="0">
                <a:solidFill>
                  <a:srgbClr val="1F5A40"/>
                </a:solidFill>
                <a:latin typeface="Georgia"/>
              </a:rPr>
              <a:t>505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42316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</a:rPr>
              <a:t>dependencias reales del directorio oficial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916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810512"/>
            <a:ext cx="2057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1" i="0">
                <a:solidFill>
                  <a:srgbClr val="1F5A40"/>
                </a:solidFill>
                <a:latin typeface="Georgia"/>
              </a:rPr>
              <a:t>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2316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</a:rPr>
              <a:t>titulares: jueces, vocales, jefaturas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6916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810512"/>
            <a:ext cx="2057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1" i="0">
                <a:solidFill>
                  <a:srgbClr val="1F5A40"/>
                </a:solidFill>
                <a:latin typeface="Georgia"/>
              </a:rPr>
              <a:t>S/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42316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</a:rPr>
              <a:t>costo de infraestructura al 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3200400"/>
            <a:ext cx="4846320" cy="316253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0" y="3200400"/>
            <a:ext cx="4846320" cy="292608"/>
          </a:xfrm>
          <a:prstGeom prst="roundRect">
            <a:avLst>
              <a:gd name="adj" fmla="val 4000"/>
            </a:avLst>
          </a:prstGeom>
          <a:solidFill>
            <a:srgbClr val="E3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85616" y="3310128"/>
            <a:ext cx="73152" cy="73152"/>
          </a:xfrm>
          <a:prstGeom prst="ellipse">
            <a:avLst/>
          </a:prstGeom>
          <a:solidFill>
            <a:srgbClr val="D3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31920" y="3310128"/>
            <a:ext cx="73152" cy="73152"/>
          </a:xfrm>
          <a:prstGeom prst="ellipse">
            <a:avLst/>
          </a:prstGeom>
          <a:solidFill>
            <a:srgbClr val="D3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78224" y="3310128"/>
            <a:ext cx="73152" cy="73152"/>
          </a:xfrm>
          <a:prstGeom prst="ellipse">
            <a:avLst/>
          </a:prstGeom>
          <a:solidFill>
            <a:srgbClr val="D3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3236976"/>
            <a:ext cx="40233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7A8494"/>
                </a:solidFill>
                <a:latin typeface="Consolas"/>
              </a:rPr>
              <a:t>Panel de administración → Sedes</a:t>
            </a:r>
          </a:p>
        </p:txBody>
      </p:sp>
      <p:pic>
        <p:nvPicPr>
          <p:cNvPr id="25" name="Picture 24" descr="screenshot-1788890452176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3520440"/>
            <a:ext cx="4791456" cy="28374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4A5568"/>
                </a:solidFill>
                <a:latin typeface="Calibri"/>
              </a:rPr>
              <a:t>Justicia Orienta · Corte Superior de Justicia de Lima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4A5568"/>
                </a:solidFill>
                <a:latin typeface="Calibri"/>
              </a:rPr>
              <a:t>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365760" cy="365760"/>
          </a:xfrm>
          <a:prstGeom prst="ellipse">
            <a:avLst/>
          </a:prstGeom>
          <a:noFill/>
          <a:ln w="1397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619963" y="431596"/>
            <a:ext cx="131673" cy="234086"/>
          </a:xfrm>
          <a:prstGeom prst="diamond">
            <a:avLst/>
          </a:prstGeom>
          <a:solidFill>
            <a:srgbClr val="2F6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F5A40"/>
                </a:solidFill>
                <a:latin typeface="Calibri"/>
              </a:rPr>
              <a:t>Y SE PUEDE MEDIR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500" b="1" i="0">
                <a:solidFill>
                  <a:srgbClr val="14213C"/>
                </a:solidFill>
                <a:latin typeface="Georgia"/>
              </a:rPr>
              <a:t>92.6% de primera orientación correcta.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521208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F6F52"/>
                </a:solidFill>
                <a:latin typeface="Calibri"/>
              </a:rPr>
              <a:t>•  </a:t>
            </a:r>
            <a:r>
              <a:rPr sz="1450">
                <a:solidFill>
                  <a:srgbClr val="4A5568"/>
                </a:solidFill>
                <a:latin typeface="Calibri"/>
              </a:rPr>
              <a:t>Por encima de la meta institucional (80%), medido sobre consultas reales del piloto.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F6F52"/>
                </a:solidFill>
                <a:latin typeface="Calibri"/>
              </a:rPr>
              <a:t>•  </a:t>
            </a:r>
            <a:r>
              <a:rPr sz="1450">
                <a:solidFill>
                  <a:srgbClr val="4A5568"/>
                </a:solidFill>
                <a:latin typeface="Calibri"/>
              </a:rPr>
              <a:t>Menos idas y vueltas entre módulos: la persona llega a la oficina correcta la primera vez.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F6F52"/>
                </a:solidFill>
                <a:latin typeface="Calibri"/>
              </a:rPr>
              <a:t>•  </a:t>
            </a:r>
            <a:r>
              <a:rPr sz="1450">
                <a:solidFill>
                  <a:srgbClr val="4A5568"/>
                </a:solidFill>
                <a:latin typeface="Calibri"/>
              </a:rPr>
              <a:t>Cada área valida su propia información, y cada cambio queda en auditoría — no depende de que una sola persona lo mantenga.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80160"/>
            <a:ext cx="5394960" cy="348743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394960" cy="292608"/>
          </a:xfrm>
          <a:prstGeom prst="roundRect">
            <a:avLst>
              <a:gd name="adj" fmla="val 4000"/>
            </a:avLst>
          </a:prstGeom>
          <a:solidFill>
            <a:srgbClr val="E3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91656" y="1389888"/>
            <a:ext cx="73152" cy="73152"/>
          </a:xfrm>
          <a:prstGeom prst="ellipse">
            <a:avLst/>
          </a:prstGeom>
          <a:solidFill>
            <a:srgbClr val="D3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389888"/>
            <a:ext cx="73152" cy="73152"/>
          </a:xfrm>
          <a:prstGeom prst="ellipse">
            <a:avLst/>
          </a:prstGeom>
          <a:solidFill>
            <a:srgbClr val="D3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84264" y="1389888"/>
            <a:ext cx="73152" cy="73152"/>
          </a:xfrm>
          <a:prstGeom prst="ellipse">
            <a:avLst/>
          </a:prstGeom>
          <a:solidFill>
            <a:srgbClr val="D3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1316736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7A8494"/>
                </a:solidFill>
                <a:latin typeface="Consolas"/>
              </a:rPr>
              <a:t>Panel de administración → Dashboard</a:t>
            </a:r>
          </a:p>
        </p:txBody>
      </p:sp>
      <p:pic>
        <p:nvPicPr>
          <p:cNvPr id="14" name="Picture 13" descr="screenshot-1788890431295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600200"/>
            <a:ext cx="5340096" cy="31623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4A5568"/>
                </a:solidFill>
                <a:latin typeface="Calibri"/>
              </a:rPr>
              <a:t>Justicia Orienta · Corte Superior de Justicia de Lima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4A5568"/>
                </a:solidFill>
                <a:latin typeface="Calibri"/>
              </a:rPr>
              <a:t>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365760" cy="365760"/>
          </a:xfrm>
          <a:prstGeom prst="ellipse">
            <a:avLst/>
          </a:prstGeom>
          <a:noFill/>
          <a:ln w="1397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619963" y="431596"/>
            <a:ext cx="131673" cy="234086"/>
          </a:xfrm>
          <a:prstGeom prst="diamond">
            <a:avLst/>
          </a:prstGeom>
          <a:solidFill>
            <a:srgbClr val="2F6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F5A40"/>
                </a:solidFill>
                <a:latin typeface="Calibri"/>
              </a:rPr>
              <a:t>LO QUE VIENE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 i="0">
                <a:solidFill>
                  <a:srgbClr val="14213C"/>
                </a:solidFill>
                <a:latin typeface="Georgia"/>
              </a:rPr>
              <a:t>Del “en qué piso queda” al mapa interactivo.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</a:rPr>
              <a:t>La base ya existe: el mapa interno del Nivel 1 de esta sede, digitalizado a partir de planos reales. El siguiente paso natural es extenderlo a todos los pisos y sedes.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880360"/>
            <a:ext cx="3566160" cy="73152"/>
          </a:xfrm>
          <a:prstGeom prst="rect">
            <a:avLst/>
          </a:prstGeom>
          <a:solidFill>
            <a:srgbClr val="2F6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127248"/>
            <a:ext cx="3054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4213C"/>
                </a:solidFill>
                <a:latin typeface="Georgia"/>
              </a:rPr>
              <a:t>Hoy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657600"/>
            <a:ext cx="305409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El sistema indica el piso, el anexo y da instrucciones de texto para llegar caminando.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88036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880360"/>
            <a:ext cx="3566160" cy="73152"/>
          </a:xfrm>
          <a:prstGeom prst="rect">
            <a:avLst/>
          </a:prstGeom>
          <a:solidFill>
            <a:srgbClr val="B98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3127248"/>
            <a:ext cx="3054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4213C"/>
                </a:solidFill>
                <a:latin typeface="Georgia"/>
              </a:rPr>
              <a:t>Con apoyo de Logística e Infraestructura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657600"/>
            <a:ext cx="305409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Con los planos físicos que esas áreas ya manejan, se puede cargar el mapa completo de cada edificio.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88036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880360"/>
            <a:ext cx="3566160" cy="73152"/>
          </a:xfrm>
          <a:prstGeom prst="rect">
            <a:avLst/>
          </a:prstGeom>
          <a:solidFill>
            <a:srgbClr val="2F6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3127248"/>
            <a:ext cx="3054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4213C"/>
                </a:solidFill>
                <a:latin typeface="Georgia"/>
              </a:rPr>
              <a:t>Mañana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3657600"/>
            <a:ext cx="305409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El ciudadano elige a qué dependencia quiere ir, y ve visualmente el camino exacto, paso a paso, hasta llegar.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20000"/>
            </a:avLst>
          </a:prstGeom>
          <a:solidFill>
            <a:srgbClr val="E4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6752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1F5A40"/>
                </a:solidFill>
                <a:latin typeface="Calibri"/>
              </a:rPr>
              <a:t>Mismo principio de siempre: costo cero en su implementación — sin licencias nuevas, aprovechando información que la propia Corte ya tiene.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4A5568"/>
                </a:solidFill>
                <a:latin typeface="Calibri"/>
              </a:rPr>
              <a:t>Justicia Orienta · Corte Superior de Justicia de Lima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4A5568"/>
                </a:solidFill>
                <a:latin typeface="Calibri"/>
              </a:rP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48640"/>
            <a:ext cx="365760" cy="365760"/>
          </a:xfrm>
          <a:prstGeom prst="ellipse">
            <a:avLst/>
          </a:prstGeom>
          <a:noFill/>
          <a:ln w="13970">
            <a:solidFill>
              <a:srgbClr val="C9C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757123" y="614476"/>
            <a:ext cx="131673" cy="234086"/>
          </a:xfrm>
          <a:prstGeom prst="diamond">
            <a:avLst/>
          </a:prstGeom>
          <a:solidFill>
            <a:srgbClr val="2F6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B9852C"/>
                </a:solidFill>
                <a:latin typeface="Calibri"/>
              </a:rPr>
              <a:t>UN MODELO, NO UNA EXCEPCIÓN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6766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Las 26 sedes se cargaron sin cambiar una sola línea de código: el mismo sistema puede servir a cualquier otra Corte Superior del país.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65836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C9CEDA"/>
                </a:solidFill>
                <a:latin typeface="Calibri"/>
              </a:rPr>
              <a:t>Gracias a la Presidencia de la Corte, a la Academia de la Magistratura y a ODANC por este reconocimiento, y por la oportunidad de seguir construyéndolo.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737360"/>
            <a:ext cx="3108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_present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2057400"/>
            <a:ext cx="22860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0" y="45720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4213C"/>
                </a:solidFill>
                <a:latin typeface="Calibri"/>
              </a:rPr>
              <a:t>Pruébalo ahora mismo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1">
                <a:solidFill>
                  <a:srgbClr val="B9852C"/>
                </a:solidFill>
                <a:latin typeface="Georgia"/>
              </a:rPr>
              <a:t>Muchas gracias.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